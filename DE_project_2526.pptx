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318" r:id="rId6"/>
    <p:sldId id="321" r:id="rId7"/>
    <p:sldId id="319" r:id="rId8"/>
    <p:sldId id="320" r:id="rId9"/>
    <p:sldId id="317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DAF9"/>
    <a:srgbClr val="002757"/>
    <a:srgbClr val="E30046"/>
    <a:srgbClr val="E30147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FD08E83C-29B9-4030-95FE-681D73EE3FAE}"/>
              </a:ext>
            </a:extLst>
          </p:cNvPr>
          <p:cNvSpPr/>
          <p:nvPr userDrawn="1"/>
        </p:nvSpPr>
        <p:spPr>
          <a:xfrm>
            <a:off x="4256116" y="0"/>
            <a:ext cx="7935884" cy="5343926"/>
          </a:xfrm>
          <a:custGeom>
            <a:avLst/>
            <a:gdLst>
              <a:gd name="connsiteX0" fmla="*/ 473826 w 6691746"/>
              <a:gd name="connsiteY0" fmla="*/ 16625 h 4613563"/>
              <a:gd name="connsiteX1" fmla="*/ 6691746 w 6691746"/>
              <a:gd name="connsiteY1" fmla="*/ 0 h 4613563"/>
              <a:gd name="connsiteX2" fmla="*/ 6683433 w 6691746"/>
              <a:gd name="connsiteY2" fmla="*/ 4613563 h 4613563"/>
              <a:gd name="connsiteX3" fmla="*/ 0 w 6691746"/>
              <a:gd name="connsiteY3" fmla="*/ 3865418 h 4613563"/>
              <a:gd name="connsiteX4" fmla="*/ 473826 w 6691746"/>
              <a:gd name="connsiteY4" fmla="*/ 16625 h 4613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1746" h="4613563">
                <a:moveTo>
                  <a:pt x="473826" y="16625"/>
                </a:moveTo>
                <a:lnTo>
                  <a:pt x="6691746" y="0"/>
                </a:lnTo>
                <a:lnTo>
                  <a:pt x="6683433" y="4613563"/>
                </a:lnTo>
                <a:lnTo>
                  <a:pt x="0" y="3865418"/>
                </a:lnTo>
                <a:lnTo>
                  <a:pt x="473826" y="16625"/>
                </a:lnTo>
                <a:close/>
              </a:path>
            </a:pathLst>
          </a:cu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 userDrawn="1"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 userDrawn="1"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 userDrawn="1"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 userDrawn="1"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 userDrawn="1"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 userDrawn="1"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 userDrawn="1"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 userDrawn="1"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 userDrawn="1"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&lt;Naam OPO&gt;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&lt;Hoofdstuk/Module/Onderdeel&gt;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&lt;Naam Docent&gt;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&lt;Afstudeerrichting&gt;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&lt;Academiejaar&gt;</a:t>
            </a:r>
          </a:p>
        </p:txBody>
      </p:sp>
    </p:spTree>
    <p:extLst>
      <p:ext uri="{BB962C8B-B14F-4D97-AF65-F5344CB8AC3E}">
        <p14:creationId xmlns:p14="http://schemas.microsoft.com/office/powerpoint/2010/main" val="77426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525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290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048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559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4796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195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142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644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914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03487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473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1815E-B49F-43FE-B280-CDF6682C3964}" type="datetimeFigureOut">
              <a:rPr lang="nl-BE" smtClean="0"/>
              <a:t>9/03/2026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5C3A1-3160-4B3C-883F-23779442062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463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yc.gov/site/tlc/about/tlc-trip-record-data.pag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8F5A620A-A011-4D84-9B3A-2E2A26CB7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95854" y="4825632"/>
            <a:ext cx="3251991" cy="459582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rgbClr val="002060"/>
                </a:solidFill>
                <a:effectLst/>
                <a:latin typeface="Noto Serif" panose="02020600060500020200" pitchFamily="18" charset="0"/>
              </a:rPr>
              <a:t>Data Engineering</a:t>
            </a:r>
          </a:p>
          <a:p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E6300A2-EC71-41FF-AE0F-732E9D6356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1800" b="0" i="0" u="none" strike="noStrike" dirty="0">
                <a:solidFill>
                  <a:srgbClr val="002757"/>
                </a:solidFill>
                <a:effectLst/>
                <a:latin typeface="Tahoma" panose="020B0604030504040204" pitchFamily="34" charset="0"/>
              </a:rPr>
              <a:t>Proje</a:t>
            </a:r>
            <a:r>
              <a:rPr lang="en-US" sz="1800" dirty="0"/>
              <a:t>ct Data Engineering</a:t>
            </a:r>
            <a:endParaRPr lang="nl-BE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9783522-F7EF-439F-9882-8D73BFAE1C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2757"/>
                </a:solidFill>
                <a:effectLst/>
                <a:latin typeface="Tahoma" panose="020B0604030504040204" pitchFamily="34" charset="0"/>
              </a:rPr>
              <a:t>Kenric Borgelioen</a:t>
            </a:r>
            <a:endParaRPr lang="nl-BE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8834884-5A7C-4BFB-9AD5-5D969EB3F6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37" y="923474"/>
            <a:ext cx="2589586" cy="8094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nl-BE" sz="900" dirty="0"/>
              <a:t>Data Engineering</a:t>
            </a:r>
            <a:br>
              <a:rPr lang="nl-BE" sz="900" dirty="0"/>
            </a:br>
            <a:r>
              <a:rPr lang="nl-BE" sz="900" dirty="0"/>
              <a:t>2 TI &amp; 2 BCS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BD0A1A9-0E44-46BE-AEEF-9C28B8724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BE" dirty="0"/>
              <a:t>2025 - 2026</a:t>
            </a:r>
          </a:p>
        </p:txBody>
      </p:sp>
    </p:spTree>
    <p:extLst>
      <p:ext uri="{BB962C8B-B14F-4D97-AF65-F5344CB8AC3E}">
        <p14:creationId xmlns:p14="http://schemas.microsoft.com/office/powerpoint/2010/main" val="43881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E830-FCA3-9491-557D-327C4C03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1: Batch Processing (1) 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0261A-C570-4E05-78CE-486A52A6DB08}"/>
              </a:ext>
            </a:extLst>
          </p:cNvPr>
          <p:cNvSpPr txBox="1"/>
          <p:nvPr/>
        </p:nvSpPr>
        <p:spPr>
          <a:xfrm>
            <a:off x="961292" y="1690688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Download the dataset about Yellow Taxi Trip Records (Parquet) from January 2025: </a:t>
            </a:r>
            <a:r>
              <a:rPr lang="en-GB" dirty="0">
                <a:hlinkClick r:id="rId2"/>
              </a:rPr>
              <a:t>https://www.nyc.gov/site/tlc/about/tlc-trip-record-data.page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 data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Reader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Validator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(Back-up validator)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Writer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Steps of your program: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Your program is scheduled to run on your date of the defence (TBD)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It reads and validates the 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Define clear data validation rules on each column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b="1" dirty="0" err="1"/>
              <a:t>Mandatory</a:t>
            </a:r>
            <a:r>
              <a:rPr lang="nl-BE" dirty="0"/>
              <a:t> </a:t>
            </a:r>
            <a:r>
              <a:rPr lang="nl-BE" b="1" dirty="0"/>
              <a:t>columns</a:t>
            </a:r>
            <a:r>
              <a:rPr lang="nl-BE" dirty="0"/>
              <a:t>: </a:t>
            </a:r>
            <a:r>
              <a:rPr lang="nl-BE" dirty="0" err="1"/>
              <a:t>tpep_pickup_datetime</a:t>
            </a:r>
            <a:r>
              <a:rPr lang="nl-BE" dirty="0"/>
              <a:t>, </a:t>
            </a:r>
            <a:r>
              <a:rPr lang="nl-BE" dirty="0" err="1"/>
              <a:t>tpep_dropoff_datetime</a:t>
            </a:r>
            <a:r>
              <a:rPr lang="nl-BE" dirty="0"/>
              <a:t>, </a:t>
            </a:r>
            <a:r>
              <a:rPr lang="nl-BE" dirty="0" err="1"/>
              <a:t>passenger_count</a:t>
            </a:r>
            <a:r>
              <a:rPr lang="nl-BE" dirty="0"/>
              <a:t>, </a:t>
            </a:r>
            <a:r>
              <a:rPr lang="nl-BE" dirty="0" err="1"/>
              <a:t>trip_distance</a:t>
            </a:r>
            <a:r>
              <a:rPr lang="nl-BE" dirty="0"/>
              <a:t>, </a:t>
            </a:r>
            <a:r>
              <a:rPr lang="nl-BE" dirty="0" err="1"/>
              <a:t>PULocationID</a:t>
            </a:r>
            <a:r>
              <a:rPr lang="nl-BE" dirty="0"/>
              <a:t> , </a:t>
            </a:r>
            <a:r>
              <a:rPr lang="nl-BE" dirty="0" err="1"/>
              <a:t>DOLocationID</a:t>
            </a:r>
            <a:r>
              <a:rPr lang="nl-BE" dirty="0"/>
              <a:t>, </a:t>
            </a:r>
            <a:r>
              <a:rPr lang="nl-BE" dirty="0" err="1"/>
              <a:t>payment_type</a:t>
            </a:r>
            <a:r>
              <a:rPr lang="nl-BE" dirty="0"/>
              <a:t>, </a:t>
            </a:r>
            <a:r>
              <a:rPr lang="nl-BE" dirty="0" err="1"/>
              <a:t>fare_amount</a:t>
            </a:r>
            <a:r>
              <a:rPr lang="nl-BE" dirty="0"/>
              <a:t>, </a:t>
            </a:r>
            <a:r>
              <a:rPr lang="nl-BE" dirty="0" err="1"/>
              <a:t>total_amount</a:t>
            </a:r>
            <a:endParaRPr lang="nl-BE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b="1" dirty="0"/>
              <a:t>Non-</a:t>
            </a:r>
            <a:r>
              <a:rPr lang="nl-BE" b="1" dirty="0" err="1"/>
              <a:t>mandatory</a:t>
            </a:r>
            <a:r>
              <a:rPr lang="nl-BE" b="1" dirty="0"/>
              <a:t> columns</a:t>
            </a:r>
            <a:r>
              <a:rPr lang="nl-BE" dirty="0"/>
              <a:t>: </a:t>
            </a:r>
            <a:r>
              <a:rPr lang="nl-BE" dirty="0" err="1"/>
              <a:t>tip_amount</a:t>
            </a:r>
            <a:r>
              <a:rPr lang="nl-BE" dirty="0"/>
              <a:t>, </a:t>
            </a:r>
            <a:r>
              <a:rPr lang="nl-BE" dirty="0" err="1"/>
              <a:t>tolls_amount</a:t>
            </a:r>
            <a:r>
              <a:rPr lang="nl-BE" dirty="0"/>
              <a:t>, extra, </a:t>
            </a:r>
            <a:r>
              <a:rPr lang="nl-BE" dirty="0" err="1"/>
              <a:t>airport_fee</a:t>
            </a:r>
            <a:r>
              <a:rPr lang="nl-BE" dirty="0"/>
              <a:t>, </a:t>
            </a:r>
            <a:r>
              <a:rPr lang="nl-BE" dirty="0" err="1"/>
              <a:t>congestion_surcharge</a:t>
            </a:r>
            <a:r>
              <a:rPr lang="nl-BE" dirty="0"/>
              <a:t>, </a:t>
            </a:r>
            <a:r>
              <a:rPr lang="nl-BE" dirty="0" err="1"/>
              <a:t>cbd_congestion_fee</a:t>
            </a:r>
            <a:r>
              <a:rPr lang="nl-BE" dirty="0"/>
              <a:t>, </a:t>
            </a:r>
            <a:r>
              <a:rPr lang="nl-BE" dirty="0" err="1"/>
              <a:t>store_and_fwd_flag</a:t>
            </a:r>
            <a:r>
              <a:rPr lang="nl-BE" dirty="0"/>
              <a:t>, </a:t>
            </a:r>
            <a:r>
              <a:rPr lang="nl-BE" dirty="0" err="1"/>
              <a:t>RatecodeID</a:t>
            </a: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3389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7169-31DF-2D8A-F291-EB69F2C9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CAE2-F574-80E4-214A-8306C3FB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1: Batch Processing (2) 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8F961-CBC9-6C95-C665-C8F78647FCE1}"/>
              </a:ext>
            </a:extLst>
          </p:cNvPr>
          <p:cNvSpPr txBox="1"/>
          <p:nvPr/>
        </p:nvSpPr>
        <p:spPr>
          <a:xfrm>
            <a:off x="838200" y="1274518"/>
            <a:ext cx="10515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Processor: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 columns </a:t>
            </a:r>
            <a:r>
              <a:rPr lang="en-US" dirty="0" err="1"/>
              <a:t>VendorID</a:t>
            </a:r>
            <a:r>
              <a:rPr lang="en-US" dirty="0"/>
              <a:t>, </a:t>
            </a:r>
            <a:r>
              <a:rPr lang="en-US" dirty="0" err="1"/>
              <a:t>store_and_fwd_flag</a:t>
            </a:r>
            <a:r>
              <a:rPr lang="en-US" dirty="0"/>
              <a:t>, and </a:t>
            </a:r>
            <a:r>
              <a:rPr lang="en-US" dirty="0" err="1"/>
              <a:t>RatecodeID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columns: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trip_duration_minutes</a:t>
            </a:r>
            <a:r>
              <a:rPr lang="nl-BE" altLang="nl-BE" dirty="0"/>
              <a:t> </a:t>
            </a:r>
            <a:r>
              <a:rPr lang="en-US" dirty="0"/>
              <a:t>= difference between </a:t>
            </a:r>
            <a:r>
              <a:rPr lang="en-US" dirty="0" err="1"/>
              <a:t>dropoff</a:t>
            </a:r>
            <a:r>
              <a:rPr lang="en-US" dirty="0"/>
              <a:t> and pickup in minutes</a:t>
            </a:r>
            <a:endParaRPr lang="nl-BE" altLang="nl-BE" sz="1100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average_speed_mph</a:t>
            </a:r>
            <a:r>
              <a:rPr lang="nl-BE" altLang="nl-BE" dirty="0"/>
              <a:t> </a:t>
            </a:r>
            <a:r>
              <a:rPr lang="en-US" sz="1100" dirty="0"/>
              <a:t>= </a:t>
            </a:r>
            <a:r>
              <a:rPr lang="en-US" dirty="0" err="1"/>
              <a:t>trip_distance</a:t>
            </a:r>
            <a:r>
              <a:rPr lang="en-US" dirty="0"/>
              <a:t> / (</a:t>
            </a:r>
            <a:r>
              <a:rPr lang="en-US" dirty="0" err="1"/>
              <a:t>trip_duration_minutes</a:t>
            </a:r>
            <a:r>
              <a:rPr lang="en-US" dirty="0"/>
              <a:t> / 60)</a:t>
            </a:r>
            <a:r>
              <a:rPr lang="en-US" sz="1100" dirty="0"/>
              <a:t> </a:t>
            </a:r>
            <a:r>
              <a:rPr lang="en-US" dirty="0"/>
              <a:t>where duration &gt; 0</a:t>
            </a:r>
            <a:endParaRPr lang="nl-BE" altLang="nl-BE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pickup_year</a:t>
            </a:r>
            <a:endParaRPr lang="nl-BE" altLang="nl-BE" sz="1100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pickup_month</a:t>
            </a:r>
            <a:endParaRPr lang="nl-BE" altLang="nl-BE" sz="1100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revenue_per_mile</a:t>
            </a:r>
            <a:r>
              <a:rPr lang="nl-BE" altLang="nl-BE" dirty="0"/>
              <a:t> </a:t>
            </a:r>
            <a:r>
              <a:rPr lang="en-US" sz="1100" dirty="0"/>
              <a:t>= </a:t>
            </a:r>
            <a:r>
              <a:rPr lang="en-US" dirty="0" err="1"/>
              <a:t>total_amount</a:t>
            </a:r>
            <a:r>
              <a:rPr lang="en-US" dirty="0"/>
              <a:t> / </a:t>
            </a:r>
            <a:r>
              <a:rPr lang="en-US" dirty="0" err="1"/>
              <a:t>trip_distance</a:t>
            </a:r>
            <a:r>
              <a:rPr lang="en-US" sz="1100" dirty="0"/>
              <a:t> </a:t>
            </a:r>
            <a:r>
              <a:rPr lang="en-US" dirty="0"/>
              <a:t>where distance &gt; 0</a:t>
            </a:r>
            <a:endParaRPr lang="nl-BE" altLang="nl-BE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trip_distance_category</a:t>
            </a:r>
            <a:endParaRPr lang="nl-BE" altLang="nl-BE" dirty="0"/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400" dirty="0"/>
              <a:t>Short &lt; 2 </a:t>
            </a:r>
            <a:r>
              <a:rPr lang="nl-BE" altLang="nl-BE" sz="1400" dirty="0" err="1"/>
              <a:t>miles</a:t>
            </a:r>
            <a:endParaRPr lang="nl-BE" altLang="nl-BE" sz="1400" dirty="0"/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400" dirty="0"/>
              <a:t>Medium 2-10 </a:t>
            </a:r>
            <a:r>
              <a:rPr lang="nl-BE" altLang="nl-BE" sz="1400" dirty="0" err="1"/>
              <a:t>miles</a:t>
            </a:r>
            <a:endParaRPr lang="nl-BE" altLang="nl-BE" sz="1400" dirty="0"/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400" dirty="0"/>
              <a:t>Long &gt; 10 </a:t>
            </a:r>
            <a:r>
              <a:rPr lang="nl-BE" altLang="nl-BE" sz="1400" dirty="0" err="1"/>
              <a:t>miles</a:t>
            </a:r>
            <a:endParaRPr lang="nl-BE" altLang="nl-BE" sz="1400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fare_category</a:t>
            </a:r>
            <a:endParaRPr lang="nl-BE" altLang="nl-BE" dirty="0"/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600" dirty="0"/>
              <a:t>Low &lt;20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600" dirty="0"/>
              <a:t>Medium 20-50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sz="1600" dirty="0"/>
              <a:t>High &gt;50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nl-BE" altLang="nl-BE" dirty="0" err="1"/>
              <a:t>trip_time_of_day</a:t>
            </a:r>
            <a:r>
              <a:rPr lang="nl-BE" altLang="nl-BE" dirty="0"/>
              <a:t> = </a:t>
            </a:r>
            <a:r>
              <a:rPr lang="nl-BE" dirty="0" err="1"/>
              <a:t>Night</a:t>
            </a:r>
            <a:r>
              <a:rPr lang="nl-BE" dirty="0"/>
              <a:t>, </a:t>
            </a:r>
            <a:r>
              <a:rPr lang="nl-BE" dirty="0" err="1"/>
              <a:t>Morning</a:t>
            </a:r>
            <a:r>
              <a:rPr lang="nl-BE" dirty="0"/>
              <a:t>, </a:t>
            </a:r>
            <a:r>
              <a:rPr lang="nl-BE" dirty="0" err="1"/>
              <a:t>Afternoon</a:t>
            </a:r>
            <a:r>
              <a:rPr lang="nl-BE" dirty="0"/>
              <a:t>, Evening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writer writes the data to Azure blob storage (Cloud) and to a local output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do you need to use: Python (pandas + </a:t>
            </a:r>
            <a:r>
              <a:rPr lang="en-GB" dirty="0" err="1"/>
              <a:t>pyarrow</a:t>
            </a:r>
            <a:r>
              <a:rPr lang="en-GB" dirty="0"/>
              <a:t>), Airflow, Azure blob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Optional: </a:t>
            </a:r>
            <a:r>
              <a:rPr lang="en-GB" dirty="0" err="1"/>
              <a:t>Pyspark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2964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9A7B-418C-7C21-806D-42DB26FF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2: Real-time data processing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5694D-0A68-AF8A-A0DD-1D0F3551F13B}"/>
              </a:ext>
            </a:extLst>
          </p:cNvPr>
          <p:cNvSpPr txBox="1"/>
          <p:nvPr/>
        </p:nvSpPr>
        <p:spPr>
          <a:xfrm>
            <a:off x="937847" y="1448411"/>
            <a:ext cx="1001932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Choose/create an unclean, meaningful dataset that contains at least 10 columns and 100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 data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Reader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Validator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(Back-up validator)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Writer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Steps of your program: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Your program has to monitor the input folder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Once a file of type .csv, .xlsx, … (you may choose) is put into that folder, your program should notice and activate your data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Define clear data validation rules on each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It reads and validates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processor creates at least 3 extra columns, and can remove duplicates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writer writes the data to Azure blob storage (Cloud) and to a local output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do you need to 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Python (pandas)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Airflow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Azure blob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8821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3A76-932A-2F73-1F24-73508608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9AF1E5-C9D1-BC4E-58F5-8B0C85A05FAB}"/>
              </a:ext>
            </a:extLst>
          </p:cNvPr>
          <p:cNvSpPr txBox="1"/>
          <p:nvPr/>
        </p:nvSpPr>
        <p:spPr>
          <a:xfrm>
            <a:off x="838200" y="1424964"/>
            <a:ext cx="10019323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6/20 points for the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Project may be done </a:t>
            </a:r>
            <a:r>
              <a:rPr lang="en-GB" sz="2200" u="sng" dirty="0"/>
              <a:t>individually</a:t>
            </a:r>
            <a:r>
              <a:rPr lang="en-GB" sz="2200" dirty="0"/>
              <a:t> or in </a:t>
            </a:r>
            <a:r>
              <a:rPr lang="en-GB" sz="2200" u="sng" dirty="0"/>
              <a:t>pairs</a:t>
            </a:r>
            <a:r>
              <a:rPr lang="en-GB" sz="2200" dirty="0"/>
              <a:t> of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Pay attention to all data engineering </a:t>
            </a:r>
            <a:r>
              <a:rPr lang="en-GB" sz="2200" u="sng" dirty="0"/>
              <a:t>principles</a:t>
            </a:r>
            <a:r>
              <a:rPr lang="en-GB" sz="2200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Make it as </a:t>
            </a:r>
            <a:r>
              <a:rPr lang="en-GB" sz="2200" u="sng" dirty="0"/>
              <a:t>foolproof</a:t>
            </a:r>
            <a:r>
              <a:rPr lang="en-GB" sz="2200" dirty="0"/>
              <a:t> as possible, I will try to break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Everything mentioned is mandatory to do but you can add extra stuff, if it works and is useful, you will be rewarded -&gt; Let your creativity work!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You will make a small </a:t>
            </a:r>
            <a:r>
              <a:rPr lang="en-GB" sz="2200" u="sng" dirty="0"/>
              <a:t>presentation</a:t>
            </a:r>
            <a:r>
              <a:rPr lang="en-GB" sz="2200" dirty="0"/>
              <a:t> of your project and present it on your defence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Defence will be done </a:t>
            </a:r>
            <a:r>
              <a:rPr lang="en-GB" sz="2200" u="sng" dirty="0"/>
              <a:t>individually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Link of </a:t>
            </a:r>
            <a:r>
              <a:rPr lang="en-GB" sz="2200" u="sng" dirty="0" err="1"/>
              <a:t>Github</a:t>
            </a:r>
            <a:r>
              <a:rPr lang="en-GB" sz="2200" u="sng" dirty="0"/>
              <a:t> classroom </a:t>
            </a:r>
            <a:r>
              <a:rPr lang="en-GB" sz="2200" dirty="0"/>
              <a:t>will be provided on Toledo, use it as your repo to push your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Push your code and validation rules (and presentation if you have one, can also be done without)</a:t>
            </a:r>
            <a:br>
              <a:rPr lang="en-GB" sz="2200" dirty="0"/>
            </a:br>
            <a:r>
              <a:rPr lang="en-GB" sz="2200" b="1" dirty="0"/>
              <a:t>Deadline: </a:t>
            </a:r>
            <a:r>
              <a:rPr lang="en-US" sz="2200" b="1" dirty="0"/>
              <a:t>26 </a:t>
            </a:r>
            <a:r>
              <a:rPr lang="en-US" sz="2200" b="1"/>
              <a:t>April 2026 23:59</a:t>
            </a:r>
            <a:endParaRPr lang="en-GB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u="sng" dirty="0"/>
              <a:t>Defence/presentation </a:t>
            </a:r>
            <a:r>
              <a:rPr lang="en-GB" sz="2200" dirty="0"/>
              <a:t>will be done in the last two classes</a:t>
            </a:r>
            <a:endParaRPr lang="en-GB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8987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6C9F-6225-963D-00CE-68046463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103C9D5D-483C-C9E3-BA78-5F06D54D35DC}"/>
              </a:ext>
            </a:extLst>
          </p:cNvPr>
          <p:cNvSpPr txBox="1">
            <a:spLocks/>
          </p:cNvSpPr>
          <p:nvPr/>
        </p:nvSpPr>
        <p:spPr>
          <a:xfrm>
            <a:off x="838200" y="426825"/>
            <a:ext cx="9763664" cy="1084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BE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Questions? </a:t>
            </a:r>
            <a:endParaRPr lang="nl-BE" sz="310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FA181765-1882-93BA-B593-C1C7CCB12BAD}"/>
              </a:ext>
            </a:extLst>
          </p:cNvPr>
          <p:cNvSpPr txBox="1"/>
          <p:nvPr/>
        </p:nvSpPr>
        <p:spPr>
          <a:xfrm>
            <a:off x="4815039" y="542108"/>
            <a:ext cx="241123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?</a:t>
            </a:r>
          </a:p>
        </p:txBody>
      </p:sp>
      <p:pic>
        <p:nvPicPr>
          <p:cNvPr id="2050" name="Picture 2" descr="question-mark | Smaakbureau Meug">
            <a:extLst>
              <a:ext uri="{FF2B5EF4-FFF2-40B4-BE49-F238E27FC236}">
                <a16:creationId xmlns:a16="http://schemas.microsoft.com/office/drawing/2014/main" id="{DAFDCEA2-F5A2-7D00-2233-FCF6130C7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785" y="176104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54798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1df0b0-6547-4fce-9905-dab0bc8a3bd7" xsi:nil="true"/>
    <lcf76f155ced4ddcb4097134ff3c332f xmlns="5c923e3c-8f16-4135-b26f-496d7d380b7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038900E495984EA7A29EBCB2D4121F" ma:contentTypeVersion="16" ma:contentTypeDescription="Een nieuw document maken." ma:contentTypeScope="" ma:versionID="c20b20bddff3daa3477c62479373ed5f">
  <xsd:schema xmlns:xsd="http://www.w3.org/2001/XMLSchema" xmlns:xs="http://www.w3.org/2001/XMLSchema" xmlns:p="http://schemas.microsoft.com/office/2006/metadata/properties" xmlns:ns2="5c923e3c-8f16-4135-b26f-496d7d380b78" xmlns:ns3="6a1df0b0-6547-4fce-9905-dab0bc8a3bd7" targetNamespace="http://schemas.microsoft.com/office/2006/metadata/properties" ma:root="true" ma:fieldsID="2e696e52b9e62cd0e72360a6a26c1f86" ns2:_="" ns3:_="">
    <xsd:import namespace="5c923e3c-8f16-4135-b26f-496d7d380b78"/>
    <xsd:import namespace="6a1df0b0-6547-4fce-9905-dab0bc8a3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23e3c-8f16-4135-b26f-496d7d380b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9adac4d5-a954-4ef6-9fb6-24a6c5fc01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df0b0-6547-4fce-9905-dab0bc8a3bd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6540913-11fa-4c3c-b6b6-963a4503eab0}" ma:internalName="TaxCatchAll" ma:showField="CatchAllData" ma:web="6a1df0b0-6547-4fce-9905-dab0bc8a3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4D6183-A0C2-41B9-BD62-0CD29AC5B1EF}">
  <ds:schemaRefs>
    <ds:schemaRef ds:uri="http://schemas.microsoft.com/office/2006/metadata/properties"/>
    <ds:schemaRef ds:uri="http://schemas.microsoft.com/office/infopath/2007/PartnerControls"/>
    <ds:schemaRef ds:uri="6a1df0b0-6547-4fce-9905-dab0bc8a3bd7"/>
    <ds:schemaRef ds:uri="5c923e3c-8f16-4135-b26f-496d7d380b78"/>
  </ds:schemaRefs>
</ds:datastoreItem>
</file>

<file path=customXml/itemProps2.xml><?xml version="1.0" encoding="utf-8"?>
<ds:datastoreItem xmlns:ds="http://schemas.openxmlformats.org/officeDocument/2006/customXml" ds:itemID="{126BFA21-774C-45F5-BE3E-541B293027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6B77CE-CBE4-4377-9D2B-0AF7560296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923e3c-8f16-4135-b26f-496d7d380b78"/>
    <ds:schemaRef ds:uri="6a1df0b0-6547-4fce-9905-dab0bc8a3b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1325</TotalTime>
  <Words>634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Noto Sans</vt:lpstr>
      <vt:lpstr>Noto Serif</vt:lpstr>
      <vt:lpstr>Tahoma</vt:lpstr>
      <vt:lpstr>Kantoorthema</vt:lpstr>
      <vt:lpstr>PowerPoint Presentation</vt:lpstr>
      <vt:lpstr>Part 1: Batch Processing (1) </vt:lpstr>
      <vt:lpstr>Part 1: Batch Processing (2) </vt:lpstr>
      <vt:lpstr>Part 2: Real-time data processing</vt:lpstr>
      <vt:lpstr>Evaluation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Kenric Borgelioen</dc:creator>
  <cp:lastModifiedBy>Kenric Borgelioen</cp:lastModifiedBy>
  <cp:revision>16</cp:revision>
  <dcterms:created xsi:type="dcterms:W3CDTF">2025-02-11T19:41:15Z</dcterms:created>
  <dcterms:modified xsi:type="dcterms:W3CDTF">2026-03-09T11:03:20Z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0x01010066038900E495984EA7A29EBCB2D4121F</vt:lpwstr>
  </property>
</Properties>
</file>